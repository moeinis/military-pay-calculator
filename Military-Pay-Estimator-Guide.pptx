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problem, not the tool. Most calculators show gross pay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linger on. It makes the value obvious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star5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868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 STAR FAMILIES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Military Take-Home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Estimator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paycheck actually looks like after taxes —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it changes when you move.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B31F3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70916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54680" y="470916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 ·  Private  ·  No sign-in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0" y="1828800"/>
            <a:ext cx="2834640" cy="32918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15400" y="2057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guide for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915400" y="28803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setting means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results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 it is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Signing leases without knowing the real pay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09928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3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377440" y="1709928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military families live off-base and rent on the local market.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035808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3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377440" y="3035808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change at once when you PCS: housing allowance, state taxes, special pays, sometimes rank.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25196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361688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3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377440" y="4361688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calculators show what actually lands in your bank account. They stop at gross pay.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answers the question families are actually asking: "If we move there, what does our paycheck look like?"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8978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two-thirds of active-duty families rely on the civilian housing market (Blue Star Families Military Family Lifestyle Survey; Bipartisan Policy Center).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IN ONE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shows the whole paycheck, step by step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17470" cy="2651760"/>
          </a:xfrm>
          <a:prstGeom prst="roundRect">
            <a:avLst>
              <a:gd name="adj" fmla="val 279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21602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enter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216027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Rank, years of service, duty station, home state, deductions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94710" y="1645920"/>
            <a:ext cx="2617470" cy="2651760"/>
          </a:xfrm>
          <a:prstGeom prst="roundRect">
            <a:avLst>
              <a:gd name="adj" fmla="val 279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69030" y="1874520"/>
            <a:ext cx="502920" cy="502920"/>
          </a:xfrm>
          <a:prstGeom prst="ellipse">
            <a:avLst/>
          </a:prstGeom>
          <a:solidFill>
            <a:srgbClr val="1F3162"/>
          </a:solidFill>
          <a:ln/>
        </p:spPr>
      </p:sp>
      <p:sp>
        <p:nvSpPr>
          <p:cNvPr id="11" name="Text 9"/>
          <p:cNvSpPr/>
          <p:nvPr/>
        </p:nvSpPr>
        <p:spPr>
          <a:xfrm>
            <a:off x="366903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23310" y="2514600"/>
            <a:ext cx="21602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adds up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23310" y="2926080"/>
            <a:ext cx="216027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 + housing (BAH) + food (BAS) + special pays = gross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49340" y="1645920"/>
            <a:ext cx="2617470" cy="2651760"/>
          </a:xfrm>
          <a:prstGeom prst="roundRect">
            <a:avLst>
              <a:gd name="adj" fmla="val 279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3660" y="1874520"/>
            <a:ext cx="502920" cy="502920"/>
          </a:xfrm>
          <a:prstGeom prst="ellipse">
            <a:avLst/>
          </a:prstGeom>
          <a:solidFill>
            <a:srgbClr val="B31F36"/>
          </a:solidFill>
          <a:ln/>
        </p:spPr>
      </p:sp>
      <p:sp>
        <p:nvSpPr>
          <p:cNvPr id="16" name="Text 14"/>
          <p:cNvSpPr/>
          <p:nvPr/>
        </p:nvSpPr>
        <p:spPr>
          <a:xfrm>
            <a:off x="64236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77940" y="2514600"/>
            <a:ext cx="21602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subtracts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77940" y="2926080"/>
            <a:ext cx="216027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tax, Social Security, Medicare, state tax, TSP, SGLI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03970" y="1645920"/>
            <a:ext cx="2617470" cy="2651760"/>
          </a:xfrm>
          <a:prstGeom prst="roundRect">
            <a:avLst>
              <a:gd name="adj" fmla="val 279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78290" y="1874520"/>
            <a:ext cx="502920" cy="502920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21" name="Text 19"/>
          <p:cNvSpPr/>
          <p:nvPr/>
        </p:nvSpPr>
        <p:spPr>
          <a:xfrm>
            <a:off x="917829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32570" y="2514600"/>
            <a:ext cx="21602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32570" y="2926080"/>
            <a:ext cx="216027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per month and per year — for two locations side by side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5262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617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you type ever leaves your browser.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4983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account, no server, no tracking. Close the tab and it is gone.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sections, top to bottom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01952"/>
            <a:ext cx="502920" cy="502920"/>
          </a:xfrm>
          <a:prstGeom prst="ellipse">
            <a:avLst/>
          </a:prstGeom>
          <a:solidFill>
            <a:srgbClr val="1F3162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7922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member profile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83480" y="1792224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are: rank, years in, filing status, dependents, TSP, SGLI. Set once — applies to both locations.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24912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980944"/>
            <a:ext cx="502920" cy="502920"/>
          </a:xfrm>
          <a:prstGeom prst="ellipse">
            <a:avLst/>
          </a:prstGeom>
          <a:solidFill>
            <a:srgbClr val="1F3162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980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28712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&amp; incentive pays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2871216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optional pays: sea, flight, jump, dive, hazard, family separation and more.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03904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059936"/>
            <a:ext cx="502920" cy="502920"/>
          </a:xfrm>
          <a:prstGeom prst="ellipse">
            <a:avLst/>
          </a:prstGeom>
          <a:solidFill>
            <a:srgbClr val="1F3162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059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39502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two duty stations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3950208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it. Pick two locations and see them side by side.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82896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5138928"/>
            <a:ext cx="502920" cy="502920"/>
          </a:xfrm>
          <a:prstGeom prst="ellipse">
            <a:avLst/>
          </a:prstGeom>
          <a:solidFill>
            <a:srgbClr val="1F3162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5138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5029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pay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83480" y="502920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breakdown, the difference between locations, print and share buttons.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update instantly as you type — there is no "calculate" button to press.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SERVICE MEMBER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setting does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9844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for: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194560" y="129844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duty, plus Guard and Reserve mobilised on Title 10 orders — not weekend drill or annual training pay.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993392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2140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grade / rank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grades E-1 to O-10, including prior-enlisted officers (O-1E/2E/3E) and the lower first-4-months E-1 rate.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289864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of service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15468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jumps at set milestones (2, 3, 4, 6, 8 years...), not gradually.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36758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Federal filing status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93192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married filing jointly, or head of household. Changes the tax brackets used.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44531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70916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the entire housing allowance table. With-dependents rates are notably higher.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37960" y="212140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TSP contribution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237744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retirement savings percentage. Comes out of your paycheck.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37960" y="289864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TSP type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15468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lowers your taxable income. Roth does not. Same deduction, different tax result.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37960" y="36758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SGLI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393192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insurance premium, from $500,000 coverage down to declined.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37960" y="44531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deductions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470916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 recurring — allotments, dental, AFRH.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37960" y="523036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Combat zone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548640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federal income tax. Social Security and Medicare are still taken out.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SPECIAL &amp; INCENTIVE PAYS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 what applies — amounts are editable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27632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sea pay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30880" y="1627632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8160" y="1572768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2752" y="1627632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/ flight (ACIP)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18960" y="1627632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16240" y="1572768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0832" y="1627632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fire / imminent danger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607040" y="1627632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322576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377440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duty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30880" y="237744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8160" y="2322576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2752" y="2377440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Parachute (jump)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18960" y="237744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16240" y="2322576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0832" y="2377440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parachute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607040" y="237744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072384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127248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Diving duty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30880" y="312724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28160" y="3072384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2752" y="3127248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Submarine duty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918960" y="312724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16240" y="3072384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0832" y="3127248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Hardship duty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607040" y="312724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3822192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3877056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duty (SDAP)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230880" y="3877056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328160" y="3822192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92752" y="3877056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separation (FSA)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918960" y="3877056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16240" y="3822192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0832" y="3877056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(you name it)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607040" y="3877056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47548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8680" y="4956048"/>
            <a:ext cx="502920" cy="502920"/>
          </a:xfrm>
          <a:prstGeom prst="ellipse">
            <a:avLst/>
          </a:prstGeom>
          <a:solidFill>
            <a:srgbClr val="B31F36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4956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554480" y="486460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Separation Allowance is the only one that is NOT taxed.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554480" y="51937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handles that correctly — it raises your gross pay without raising your tax.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COMPARE TWO DUTY STATIONS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main event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642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37560" y="16642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"Fort Bragg" so the results read plainly instead of "Scenario A".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243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Duty station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37560" y="26243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338 real housing areas. Picking one fills in your housing allowance automatically.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493008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5844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BAH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358444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in for you — but you can type over it if you know your exact figure.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453128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5445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of legal residence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45445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pay state tax. Usually NOT the state you are stationed in.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80960" y="1572768"/>
            <a:ext cx="384048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9560" y="1737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state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09560" y="2185416"/>
            <a:ext cx="201168" cy="201168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130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income tax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0" y="23865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TX, FL, WA and 6 more. Nothing owed.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09560" y="3236976"/>
            <a:ext cx="201168" cy="201168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3182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Exempts military pay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0" y="343814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AZ, KY, MI, MN and 9 more. Ticked for you.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09560" y="4288536"/>
            <a:ext cx="201168" cy="201168"/>
          </a:xfrm>
          <a:prstGeom prst="ellipse">
            <a:avLst/>
          </a:prstGeom>
          <a:solidFill>
            <a:srgbClr val="B31F36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4233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0" y="448970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CA, NY, OH, PA and 5 more. Tax-free ONLY if you are stationed outside that state.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your legal residence usually does not change just because you PCS (SCRA / MSRRA).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READING THE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shows the whole math, not just a total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location card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21031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2103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23957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61872" y="2395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allowance (BAH)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26883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61872" y="26883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allowance (BAS)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29809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61872" y="2980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pays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327355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61872" y="32735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PAY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2688" y="35661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61872" y="3566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income tax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8587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61872" y="3858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Security 6.2%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41513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61872" y="4151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1.45%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44439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61872" y="44439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tax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47365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61872" y="4736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TSP, SGLI, other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50292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61872" y="5029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0" y="155448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difference banner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29400" y="2057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474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+$750 / mo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629400" y="2651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+$9,000 per year — the headline number for a move.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0" y="35661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extra readouts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29400" y="40690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tax rate — what share of gross goes to taxes.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% of gross — what you actually keep.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Buttons: Print / Save as PDF  ·  Copy shareable link (the link remembers every setting).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EXAMPLE  ·  E-5, 10 YEARS, TEXAS LEGAL RESIDENCE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family: Fort Bragg → JBLM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Bragg, NC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JBLM / Tacoma, WA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267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267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$4,395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0" y="2267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$4,395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7523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(BAH)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7523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27523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$2,556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2369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(BAS)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2369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32369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721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721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$6,678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3721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$7,428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$5,942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$6,692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4937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074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74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+$750 / month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297680" y="50749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+$9,000 a year. Same rank, same job, same family — only the city changed.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 IS IT?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exact, what is estimated, what is missing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3017520" cy="411480"/>
          </a:xfrm>
          <a:prstGeom prst="roundRect">
            <a:avLst>
              <a:gd name="adj" fmla="val 22222"/>
            </a:avLst>
          </a:prstGeom>
          <a:solidFill>
            <a:srgbClr val="0474B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Dollar-accurate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 (DFAS tables)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allowance (official DoD rates)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allowance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Security &amp; Medicare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572768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783080"/>
            <a:ext cx="3017520" cy="411480"/>
          </a:xfrm>
          <a:prstGeom prst="roundRect">
            <a:avLst>
              <a:gd name="adj" fmla="val 22222"/>
            </a:avLst>
          </a:prstGeom>
          <a:solidFill>
            <a:srgbClr val="1F316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783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estimate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17720" y="22860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income tax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income tax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as yearly tax ÷ 12 — not your exact paycheck withholding.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572768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1783080"/>
            <a:ext cx="3017520" cy="411480"/>
          </a:xfrm>
          <a:prstGeom prst="roundRect">
            <a:avLst>
              <a:gd name="adj" fmla="val 22222"/>
            </a:avLst>
          </a:prstGeom>
          <a:solidFill>
            <a:srgbClr val="B31F36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783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21040" y="22860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drill / annual training pay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Spouse income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tax credits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Itemised deductions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city taxes (except Maryland)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Overseas (OHA) locations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120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comparison between two places is more reliable than either single number —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5440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sources of error apply to both sides equally, so they cancel out in the difference.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NUMBERS COME FROM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figure traces to an official source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746504"/>
            <a:ext cx="256032" cy="256032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61848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1618488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Finance and Accounting Service (DFAS) 2026 tables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67712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2441448"/>
            <a:ext cx="256032" cy="256032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31343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allowance (BAH)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0" y="2313432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Travel Management Office — 338 housing areas, every rank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62656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3136392"/>
            <a:ext cx="256032" cy="256032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300837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allowance (BAS)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4880" y="3008376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DFAS — matches DoD published figures exactly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3831336"/>
            <a:ext cx="256032" cy="256032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" y="370332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tax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54880" y="3703320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2026 brackets and standard deduction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4526280"/>
            <a:ext cx="256032" cy="256032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43982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Security / Medicare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54880" y="4398264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rates and wage caps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047488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5221224"/>
            <a:ext cx="256032" cy="256032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26" name="Text 24"/>
          <p:cNvSpPr/>
          <p:nvPr/>
        </p:nvSpPr>
        <p:spPr>
          <a:xfrm>
            <a:off x="1325880" y="509320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tax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754880" y="5093208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2026 state schedules, all 50 states plus DC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76072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8521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knowing: one widely-used public calculator is still showing 2023 food-allowance rates as if current.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LOOKS WRONG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to check first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10512"/>
            <a:ext cx="548640" cy="548640"/>
          </a:xfrm>
          <a:prstGeom prst="ellipse">
            <a:avLst/>
          </a:prstGeom>
          <a:solidFill>
            <a:srgbClr val="B31F3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18470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page will not load"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antivirus software (Avast, AVG) blocks brand-new websites until they build a reputation. This is a false alarm, not a broken site.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mobile data instead of Wi-Fi, a different browser, or another computer.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1810512"/>
            <a:ext cx="548640" cy="548640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406640" y="18470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number looks wrong"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06640" y="22860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these first: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 the state of legal residence right?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 the dependents setting right?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 the TSP percentage yours?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Did a housing figure get typed over?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10881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251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looks off? Tell us — that is exactly what we need.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60120" y="4663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"Share your feedback" button at the bottom of the page. It asks two questions — whether the estimate matched your actual pay, and what would make it better — plus your name and email so we can follow up.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5394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3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and email are never shown publicly. Please do not include account numbers or other sensitive details.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task, and it matters more than everything else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31720"/>
            <a:ext cx="640080" cy="640080"/>
          </a:xfrm>
          <a:prstGeom prst="star5">
            <a:avLst/>
          </a:prstGeom>
          <a:solidFill>
            <a:srgbClr val="B31F3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19456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your most recent LES and compare it, line by line.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828800" y="265176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any line that differs by more than a couple hundred dollars a month. That is the one test we cannot run ourselves.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721608"/>
            <a:ext cx="365760" cy="365760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load for you?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phone and your work computer.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379976"/>
            <a:ext cx="365760" cy="365760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79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43616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anything confusing?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4361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label, a setting, a number with no explanation.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38344"/>
            <a:ext cx="365760" cy="365760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38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502005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send this to a friend who is PCSing?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5020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not, what is missing?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064240" y="6035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this slide handy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5910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it?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663440" y="159105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112264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need an account?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63440" y="21488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No sign-in, no app to install.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7066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 on a phone?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70662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any modern browser.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227832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2644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my data stored?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63440" y="32644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Your pay details never leave your browser. The feedback form is separate and optional.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785616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822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year are the rates?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63440" y="38221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2026, effective 1 January 2026.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3799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save a scenario?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63440" y="437997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"Copy shareable link" saves every setting in the link.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901184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4937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print it?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9377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"Print / Save as PDF".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458968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54955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 I tell if it is wrong?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63440" y="549554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"Share your feedback" button at the bottom of the page.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10819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 Star Families tool. Independent estimate for planning; not affiliated with or endorsed by the U.S. Department of Defense or DFAS.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blue-star-families1.github.io/military-pay-calculator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Military Take-Home Pay Estimator — User Guide</dc:title>
  <dc:subject>PptxGenJS Presentation</dc:subject>
  <dc:creator>Blue Star Families</dc:creator>
  <cp:lastModifiedBy>Blue Star Families</cp:lastModifiedBy>
  <cp:revision>1</cp:revision>
  <dcterms:created xsi:type="dcterms:W3CDTF">2026-09-08T22:36:07Z</dcterms:created>
  <dcterms:modified xsi:type="dcterms:W3CDTF">2026-09-08T22:36:07Z</dcterms:modified>
</cp:coreProperties>
</file>